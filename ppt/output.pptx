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9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4457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社内DX推進計画 2026年度版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75B6"/>
          </a:solidFill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  背景と目的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4552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600" b="1">
                <a:solidFill>
                  <a:srgbClr val="2E75B6"/>
                </a:solidFill>
              </a:rPr>
              <a:t>現状の課題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A1A1A"/>
                </a:solidFill>
              </a:rPr>
              <a:t>  ‒ 部門間でのデータ連携が手動作業に依存している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A1A1A"/>
                </a:solidFill>
              </a:rPr>
              <a:t>  ‒ 承認フローに平均3営業日かかっており業務効率が低い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A1A1A"/>
                </a:solidFill>
              </a:rPr>
              <a:t>  ‒ ナレッジが個人のローカル環境に散在し共有されていない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2E75B6"/>
                </a:solidFill>
              </a:rPr>
              <a:t>目的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A1A1A"/>
                </a:solidFill>
              </a:rPr>
              <a:t>  ‒ 業務プロセスの自動化により生産性を20%向上させる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A1A1A"/>
                </a:solidFill>
              </a:rPr>
              <a:t>  ‒ データ基盤を整備し、経営判断のスピードを高める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75B6"/>
          </a:solidFill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  推進ロードマップ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4552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600" b="1">
                <a:solidFill>
                  <a:srgbClr val="2E75B6"/>
                </a:solidFill>
              </a:rPr>
              <a:t>フェーズ1（Q1）：基盤整備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A1A1A"/>
                </a:solidFill>
              </a:rPr>
              <a:t>  ‒ クラウドストレージの全社統一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A1A1A"/>
                </a:solidFill>
              </a:rPr>
              <a:t>  ‒ 認証基盤（SSO）の導入</a:t>
            </a:r>
          </a:p>
          <a:p>
            <a:pPr lvl="2">
              <a:spcBef>
                <a:spcPts val="200"/>
              </a:spcBef>
            </a:pPr>
            <a:r>
              <a:rPr sz="1200" b="0">
                <a:solidFill>
                  <a:srgbClr val="1A1A1A"/>
                </a:solidFill>
              </a:rPr>
              <a:t>  ‒   ‒ 対象システム: 社内ポータル、勤怠、経費精算</a:t>
            </a:r>
          </a:p>
          <a:p>
            <a:pPr lvl="2">
              <a:spcBef>
                <a:spcPts val="200"/>
              </a:spcBef>
            </a:pPr>
            <a:r>
              <a:rPr sz="1200" b="0">
                <a:solidFill>
                  <a:srgbClr val="1A1A1A"/>
                </a:solidFill>
              </a:rPr>
              <a:t>  ‒   ‒ 担当: インフラチーム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2E75B6"/>
                </a:solidFill>
              </a:rPr>
              <a:t>フェーズ2（Q2–Q3）：業務自動化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A1A1A"/>
                </a:solidFill>
              </a:rPr>
              <a:t>  ‒ 承認ワークフローのシステム化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A1A1A"/>
                </a:solidFill>
              </a:rPr>
              <a:t>  ‒ RPAによる定型作業の自動化（対象業務10本）</a:t>
            </a:r>
          </a:p>
          <a:p>
            <a:pPr lvl="2">
              <a:spcBef>
                <a:spcPts val="200"/>
              </a:spcBef>
            </a:pPr>
            <a:r>
              <a:rPr sz="1200" b="0">
                <a:solidFill>
                  <a:srgbClr val="1A1A1A"/>
                </a:solidFill>
              </a:rPr>
              <a:t>  ‒   ‒ 月次集計レポート</a:t>
            </a:r>
          </a:p>
          <a:p>
            <a:pPr lvl="2">
              <a:spcBef>
                <a:spcPts val="200"/>
              </a:spcBef>
            </a:pPr>
            <a:r>
              <a:rPr sz="1200" b="0">
                <a:solidFill>
                  <a:srgbClr val="1A1A1A"/>
                </a:solidFill>
              </a:rPr>
              <a:t>  ‒   ‒ 請求書データ取り込み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2E75B6"/>
                </a:solidFill>
              </a:rPr>
              <a:t>フェーズ3（Q4）：定着・改善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A1A1A"/>
                </a:solidFill>
              </a:rPr>
              <a:t>  ‒ 利用状況モニタリング開始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A1A1A"/>
                </a:solidFill>
              </a:rPr>
              <a:t>  ‒ 改善サイクルの確立（月次レビュー）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75B6"/>
          </a:solidFill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  体制と予算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4552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600" b="1">
                <a:solidFill>
                  <a:srgbClr val="2E75B6"/>
                </a:solidFill>
              </a:rPr>
              <a:t>推進体制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A1A1A"/>
                </a:solidFill>
              </a:rPr>
              <a:t>  ‒ 推進オーナー: DX推進部長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A1A1A"/>
                </a:solidFill>
              </a:rPr>
              <a:t>  ‒ 各部門DX担当: 1名ずつ選任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A1A1A"/>
                </a:solidFill>
              </a:rPr>
              <a:t>  ‒ 外部ベンダー: システム開発・運用サポート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2E75B6"/>
                </a:solidFill>
              </a:rPr>
              <a:t>概算予算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A1A1A"/>
                </a:solidFill>
              </a:rPr>
              <a:t>  ‒ フェーズ1: 500万円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A1A1A"/>
                </a:solidFill>
              </a:rPr>
              <a:t>  ‒ フェーズ2: 1,200万円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A1A1A"/>
                </a:solidFill>
              </a:rPr>
              <a:t>  ‒ フェーズ3: 300万円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A1A1A"/>
                </a:solidFill>
              </a:rPr>
              <a:t>  ‒ 合計: 2,000万円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75B6"/>
          </a:solidFill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  まとめ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4552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200"/>
              </a:spcBef>
            </a:pPr>
            <a:r>
              <a:rPr sz="1200" b="0">
                <a:solidFill>
                  <a:srgbClr val="1A1A1A"/>
                </a:solidFill>
              </a:rPr>
              <a:t>  ‒ 2026年度は基盤整備と自動化を両輪で推進する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A1A1A"/>
                </a:solidFill>
              </a:rPr>
              <a:t>  ‒ 全社横断の体制で進め、年度末に効果測定を実施する</a:t>
            </a:r>
          </a:p>
          <a:p>
            <a:pPr lvl="1">
              <a:spcBef>
                <a:spcPts val="200"/>
              </a:spcBef>
            </a:pPr>
            <a:r>
              <a:rPr sz="1200" b="0">
                <a:solidFill>
                  <a:srgbClr val="1A1A1A"/>
                </a:solidFill>
              </a:rPr>
              <a:t>  ‒ 次年度以降のAI活用フェーズへのつなぎを意識して設計する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D7D31"/>
          </a:solidFill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  図解案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4552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1A1A1A"/>
                </a:solidFill>
              </a:rPr>
              <a:t>【背景と目的】 現状→課題→目標のビフォーアフター比較図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1A1A1A"/>
                </a:solidFill>
              </a:rPr>
              <a:t>【推進ロードマップ】 3フェーズのガントチャート（Q1〜Q4）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1A1A1A"/>
                </a:solidFill>
              </a:rPr>
              <a:t>【体制と予算】 予算配分の円グラフ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